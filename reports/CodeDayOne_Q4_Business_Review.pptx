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Views (K)</c:v>
                </c:pt>
              </c:strCache>
            </c:strRef>
          </c:tx>
          <c:spPr>
            <a:solidFill>
              <a:srgbClr val="04A45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YouTube</c:v>
                  </c:pt>
                  <c:pt idx="1">
                    <c:v>Instagram</c:v>
                  </c:pt>
                  <c:pt idx="2">
                    <c:v>LinkedIn</c:v>
                  </c:pt>
                  <c:pt idx="3">
                    <c:v>Reddit</c:v>
                  </c:pt>
                  <c:pt idx="4">
                    <c:v>Email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526</c:v>
                </c:pt>
                <c:pt idx="1">
                  <c:v>176</c:v>
                </c:pt>
                <c:pt idx="2">
                  <c:v>74.5</c:v>
                </c:pt>
                <c:pt idx="3">
                  <c:v>33</c:v>
                </c:pt>
                <c:pt idx="4">
                  <c:v>31.7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1A1A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1A1A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Engagement %</c:v>
                </c:pt>
              </c:strCache>
            </c:strRef>
          </c:tx>
          <c:spPr>
            <a:solidFill>
              <a:srgbClr val="2ECC71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Email</c:v>
                  </c:pt>
                  <c:pt idx="1">
                    <c:v>Reddit</c:v>
                  </c:pt>
                  <c:pt idx="2">
                    <c:v>LinkedIn</c:v>
                  </c:pt>
                  <c:pt idx="3">
                    <c:v>Instagram</c:v>
                  </c:pt>
                  <c:pt idx="4">
                    <c:v>YouTube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30.1</c:v>
                </c:pt>
                <c:pt idx="1">
                  <c:v>17.8</c:v>
                </c:pt>
                <c:pt idx="2">
                  <c:v>15.9</c:v>
                </c:pt>
                <c:pt idx="3">
                  <c:v>13</c:v>
                </c:pt>
                <c:pt idx="4">
                  <c:v>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1A1A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1A1A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04A45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AI Education</c:v>
                  </c:pt>
                  <c:pt idx="1">
                    <c:v>Bootcamp</c:v>
                  </c:pt>
                  <c:pt idx="2">
                    <c:v>AI Code Tools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6.9</c:v>
                </c:pt>
                <c:pt idx="1">
                  <c:v>2.65</c:v>
                </c:pt>
                <c:pt idx="2">
                  <c:v>6.4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2030+</c:v>
                </c:pt>
              </c:strCache>
            </c:strRef>
          </c:tx>
          <c:spPr>
            <a:solidFill>
              <a:srgbClr val="2ECC7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AI Education</c:v>
                  </c:pt>
                  <c:pt idx="1">
                    <c:v>Bootcamp</c:v>
                  </c:pt>
                  <c:pt idx="2">
                    <c:v>AI Code Tools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41</c:v>
                </c:pt>
                <c:pt idx="1">
                  <c:v>14</c:v>
                </c:pt>
                <c:pt idx="2">
                  <c:v>122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1A1A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1A1A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A1A1A1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4A4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code:Day one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2025 Business Review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Team Presentation | January 2025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freedom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4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4A4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1463040"/>
          </a:xfrm>
          <a:prstGeom prst="rect">
            <a:avLst/>
          </a:prstGeom>
          <a:solidFill>
            <a:srgbClr val="2E3440"/>
          </a:solidFill>
          <a:ln w="12700">
            <a:solidFill>
              <a:srgbClr val="3B42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841K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Views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+32% QoQ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651760" cy="1463040"/>
          </a:xfrm>
          <a:prstGeom prst="rect">
            <a:avLst/>
          </a:prstGeom>
          <a:solidFill>
            <a:srgbClr val="2E3440"/>
          </a:solidFill>
          <a:ln w="12700">
            <a:solidFill>
              <a:srgbClr val="3B42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2344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291840" y="1828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Pieces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21945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651760" cy="1463040"/>
          </a:xfrm>
          <a:prstGeom prst="rect">
            <a:avLst/>
          </a:prstGeom>
          <a:solidFill>
            <a:srgbClr val="2E3440"/>
          </a:solidFill>
          <a:ln w="12700">
            <a:solidFill>
              <a:srgbClr val="3B42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2344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16.7%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126480" y="1828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Engagement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21945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 benchmark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61120" y="1097280"/>
            <a:ext cx="2651760" cy="1463040"/>
          </a:xfrm>
          <a:prstGeom prst="rect">
            <a:avLst/>
          </a:prstGeom>
          <a:solidFill>
            <a:srgbClr val="2E3440"/>
          </a:solidFill>
          <a:ln w="12700">
            <a:solidFill>
              <a:srgbClr val="3B42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0" y="12344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$0.02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961120" y="1828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View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61120" y="21945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2926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Highlights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tutorial videos drove 62.5% of total views (526K)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3794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lead magnets achieved highest engagement (45% for Proposal Template)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4206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AI-focused content outperformed average (+9.1% engagement)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4617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investment: $17,870 | ROI: 47 views per dollar spent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5120640"/>
            <a:ext cx="11274552" cy="1280160"/>
          </a:xfrm>
          <a:prstGeom prst="rect">
            <a:avLst/>
          </a:prstGeom>
          <a:solidFill>
            <a:srgbClr val="1A2A1A"/>
          </a:solidFill>
          <a:ln w="12700">
            <a:solidFill>
              <a:srgbClr val="04A45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257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Context: AI coding education market growing at 42.8% CAGR ($6.9B to $41B by 2030)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56235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 of developers now use AI tools | 41% of code is AI-generated | "Vibe coding" named Word of Year 2025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5989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code:Day one is positioned at the intersection of two explosive growth sectors.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4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4A4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Performance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Views by Channel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54864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Rate by Channel</a:t>
            </a:r>
            <a:endParaRPr lang="en-US" sz="16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400800" y="1280160"/>
          <a:ext cx="53035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40080" y="45720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YouTube: Highest reach (526K views) but lowest engagement (9%) - optimize for retention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40080" y="50292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Email: Highest engagement (30.1%) - expand lead magnet strategy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40080" y="54864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LinkedIn: Strong thought leadership performance (15.9% engagement) - increase frequency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40080" y="59436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Reddit: Best cost efficiency ($0.016/view) with strong community engagement (17.8%)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4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4A4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Performing Content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by Reach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669280" cy="2286000"/>
        </p:xfrm>
        <a:graphic>
          <a:graphicData uri="http://schemas.openxmlformats.org/drawingml/2006/table">
            <a:tbl>
              <a:tblPr/>
              <a:tblGrid>
                <a:gridCol w="3200400"/>
                <a:gridCol w="1097280"/>
                <a:gridCol w="7315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Views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to Price Your First Client Project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YouTube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Tools Every Creative Should Know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YouTube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I Tripled My Rates in 90 Days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YouTube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5-Step Client Acquisition System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YouTube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Your First $10K Month Blueprint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YouTube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by Engagement</a:t>
            </a:r>
            <a:endParaRPr lang="en-US" sz="16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280160"/>
          <a:ext cx="5303520" cy="228600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7315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Ultimate Proposal Template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November Success Stories Roundup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Workshop Replay: Pricing Mastery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Skills Workshop Invitation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Reddit AMA Highlights Compilation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Reddit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3840480"/>
            <a:ext cx="11274552" cy="2560320"/>
          </a:xfrm>
          <a:prstGeom prst="rect">
            <a:avLst/>
          </a:prstGeom>
          <a:solidFill>
            <a:srgbClr val="2E3440"/>
          </a:solidFill>
          <a:ln w="12700">
            <a:solidFill>
              <a:srgbClr val="3B425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40080" y="4023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Strategy Insights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22960" y="4480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Tutorial videos dominate reach - YouTube algorithm favors "How to" and pricing content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822960" y="4892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AI-focused content ("AI Tools Every Creative Should Know") shows strong market alignment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822960" y="5303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lead magnets convert at 3-5x higher rates than social content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22960" y="5715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studies and testimonials drive both reach AND engagement - expand production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content (Reddit AMAs) provides highest ROI per dollar spent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4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4A4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Addressable Market Growth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56692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Market Indicators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0" y="1371600"/>
            <a:ext cx="2468880" cy="868680"/>
          </a:xfrm>
          <a:prstGeom prst="rect">
            <a:avLst/>
          </a:prstGeom>
          <a:solidFill>
            <a:srgbClr val="2E3440"/>
          </a:solidFill>
          <a:ln w="12700">
            <a:solidFill>
              <a:srgbClr val="3B425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0" y="14630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42.8%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400800" y="18745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Education CAGR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9052560" y="1371600"/>
            <a:ext cx="2468880" cy="868680"/>
          </a:xfrm>
          <a:prstGeom prst="rect">
            <a:avLst/>
          </a:prstGeom>
          <a:solidFill>
            <a:srgbClr val="2E3440"/>
          </a:solidFill>
          <a:ln w="12700">
            <a:solidFill>
              <a:srgbClr val="3B425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052560" y="14630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23.2%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052560" y="18745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Bootcamp CAGR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400800" y="2377440"/>
            <a:ext cx="2468880" cy="868680"/>
          </a:xfrm>
          <a:prstGeom prst="rect">
            <a:avLst/>
          </a:prstGeom>
          <a:solidFill>
            <a:srgbClr val="2E3440"/>
          </a:solidFill>
          <a:ln w="12700">
            <a:solidFill>
              <a:srgbClr val="3B425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24688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30.7%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400800" y="2880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Code Tools CAGR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9052560" y="2377440"/>
            <a:ext cx="2468880" cy="868680"/>
          </a:xfrm>
          <a:prstGeom prst="rect">
            <a:avLst/>
          </a:prstGeom>
          <a:solidFill>
            <a:srgbClr val="2E3440"/>
          </a:solidFill>
          <a:ln w="12700">
            <a:solidFill>
              <a:srgbClr val="3B425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052560" y="24688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9052560" y="2880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using AI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400800" y="3383280"/>
            <a:ext cx="2468880" cy="868680"/>
          </a:xfrm>
          <a:prstGeom prst="rect">
            <a:avLst/>
          </a:prstGeom>
          <a:solidFill>
            <a:srgbClr val="2E3440"/>
          </a:solidFill>
          <a:ln w="12700">
            <a:solidFill>
              <a:srgbClr val="3B425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0" y="3474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400800" y="3886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AI-generated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9052560" y="3383280"/>
            <a:ext cx="2468880" cy="868680"/>
          </a:xfrm>
          <a:prstGeom prst="rect">
            <a:avLst/>
          </a:prstGeom>
          <a:solidFill>
            <a:srgbClr val="2E3440"/>
          </a:solidFill>
          <a:ln w="12700">
            <a:solidFill>
              <a:srgbClr val="3B425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052560" y="3474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9052560" y="3886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Devs adopting AI tools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57200" y="4297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Positioning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40080" y="47548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identified: No AI-native coding academy focused on founders/builders shipping real products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40080" y="52120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"Vibe coding" mainstream recognition creates demand for structured education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40080" y="56692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bootcamps still adapting - first-mover advantage available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40080" y="6126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standardization creates teachable, portable skills curriculum opportunity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4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4A4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11274552" cy="2560320"/>
        </p:xfrm>
        <a:graphic>
          <a:graphicData uri="http://schemas.openxmlformats.org/drawingml/2006/table">
            <a:tbl>
              <a:tblPr/>
              <a:tblGrid>
                <a:gridCol w="1645920"/>
                <a:gridCol w="1371600"/>
                <a:gridCol w="2560320"/>
                <a:gridCol w="32004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Positioning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 vs code:Day one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Codecademy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Interactive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Structured courses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AI-first, no shipping focus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freeCodeCamp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Free/Community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source, certs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AI curriculum, slow pace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Coursera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Academic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University degrees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Theory-heavy, not builder-focused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General Assembly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Bootcamp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Career services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Traditional stack, high cost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Replit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IDE/Learning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Browser coding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Tool-focused, not outcome-focused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840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code:Day one Differentiation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4297680"/>
            <a:ext cx="5669280" cy="914400"/>
          </a:xfrm>
          <a:prstGeom prst="rect">
            <a:avLst/>
          </a:prstGeom>
          <a:solidFill>
            <a:srgbClr val="2E3440"/>
          </a:solidFill>
          <a:ln w="12700">
            <a:solidFill>
              <a:srgbClr val="04A45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43891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AI-First Curriculum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47548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coding, Claude Code, MCP servers, agent workflows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309360" y="4297680"/>
            <a:ext cx="5669280" cy="914400"/>
          </a:xfrm>
          <a:prstGeom prst="rect">
            <a:avLst/>
          </a:prstGeom>
          <a:solidFill>
            <a:srgbClr val="2E3440"/>
          </a:solidFill>
          <a:ln w="12700">
            <a:solidFill>
              <a:srgbClr val="04A45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46520" y="43891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Outcome-Focused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46520" y="47548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lesson produces a tangible, shippable artifact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5394960"/>
            <a:ext cx="5669280" cy="914400"/>
          </a:xfrm>
          <a:prstGeom prst="rect">
            <a:avLst/>
          </a:prstGeom>
          <a:solidFill>
            <a:srgbClr val="2E3440"/>
          </a:solidFill>
          <a:ln w="12700">
            <a:solidFill>
              <a:srgbClr val="04A45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54864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 Community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94360" y="58521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learners with indie hackers and founders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309360" y="5394960"/>
            <a:ext cx="5669280" cy="914400"/>
          </a:xfrm>
          <a:prstGeom prst="rect">
            <a:avLst/>
          </a:prstGeom>
          <a:solidFill>
            <a:srgbClr val="2E3440"/>
          </a:solidFill>
          <a:ln w="12700">
            <a:solidFill>
              <a:srgbClr val="04A45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46520" y="54864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Stack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46520" y="58521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that 10x productivity (Cursor, Claude, Supabase)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4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4A4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Recommendations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Strategy - Q1 2025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down on YouTube tutorials - proven reach engine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AI-focused content series (market demand signal)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email lead magnet library (45% engagement)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Reddit community presence (best ROI)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"Ship in a Week" challenge campaign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Strategy - 2025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1371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core curriculum: Claude Code + shipping focus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0" y="1783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founding community of indie hackers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0" y="21945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corporate training offering (44.8% CAGR)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0" y="2606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certification for 529 plan eligibility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30175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to Asia-Pacific (fastest growth region)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Priorities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114800"/>
          <a:ext cx="11274552" cy="2194560"/>
        </p:xfrm>
        <a:graphic>
          <a:graphicData uri="http://schemas.openxmlformats.org/drawingml/2006/table">
            <a:tbl>
              <a:tblPr/>
              <a:tblGrid>
                <a:gridCol w="3200400"/>
                <a:gridCol w="2286000"/>
                <a:gridCol w="320040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Expected Impact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Timeline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YouTube Production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+$5K/mo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+200K views/mo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Email/Lead Magnets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+$2K/mo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+15% conversion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Curriculum Dev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product launch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Q1-Q2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 Building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+$3K/mo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1K founding members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Q1-Q2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 Training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B2B revenue stream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Q2-Q3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4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00400"/>
          </a:xfrm>
          <a:prstGeom prst="rect">
            <a:avLst/>
          </a:prstGeom>
          <a:solidFill>
            <a:srgbClr val="04A4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code:Day one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Positioned to capture the AI-first coding education market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3657600"/>
            <a:ext cx="2743200" cy="1280160"/>
          </a:xfrm>
          <a:prstGeom prst="rect">
            <a:avLst/>
          </a:prstGeom>
          <a:solidFill>
            <a:srgbClr val="2E3440"/>
          </a:solidFill>
          <a:ln w="12700">
            <a:solidFill>
              <a:srgbClr val="04A4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7947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$177B+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4434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TAM by 2035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3657600"/>
            <a:ext cx="2743200" cy="1280160"/>
          </a:xfrm>
          <a:prstGeom prst="rect">
            <a:avLst/>
          </a:prstGeom>
          <a:solidFill>
            <a:srgbClr val="2E3440"/>
          </a:solidFill>
          <a:ln w="12700">
            <a:solidFill>
              <a:srgbClr val="04A4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37947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841K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383280" y="4434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Content Views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3657600"/>
            <a:ext cx="2743200" cy="1280160"/>
          </a:xfrm>
          <a:prstGeom prst="rect">
            <a:avLst/>
          </a:prstGeom>
          <a:solidFill>
            <a:srgbClr val="2E3440"/>
          </a:solidFill>
          <a:ln w="12700">
            <a:solidFill>
              <a:srgbClr val="04A4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37947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16.7%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309360" y="4434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Engagement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235440" y="3657600"/>
            <a:ext cx="2743200" cy="1280160"/>
          </a:xfrm>
          <a:prstGeom prst="rect">
            <a:avLst/>
          </a:prstGeom>
          <a:solidFill>
            <a:srgbClr val="2E3440"/>
          </a:solidFill>
          <a:ln w="12700">
            <a:solidFill>
              <a:srgbClr val="04A4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0" y="37947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42.8%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235440" y="4434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CAGR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53035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Steps: Approve Q1 content budget increase and curriculum development investment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1264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freedom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code:Day one Q4 2025 Business Review</dc:title>
  <dc:subject>PptxGenJS Presentation</dc:subject>
  <dc:creator>code:Day one Marketing Team</dc:creator>
  <cp:lastModifiedBy>code:Day one Marketing Team</cp:lastModifiedBy>
  <cp:revision>1</cp:revision>
  <dcterms:created xsi:type="dcterms:W3CDTF">2026-01-08T07:52:07Z</dcterms:created>
  <dcterms:modified xsi:type="dcterms:W3CDTF">2026-01-08T07:52:07Z</dcterms:modified>
</cp:coreProperties>
</file>